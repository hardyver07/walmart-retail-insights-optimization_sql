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3"/>
  </p:notesMasterIdLst>
  <p:handoutMasterIdLst>
    <p:handoutMasterId r:id="rId24"/>
  </p:handoutMasterIdLst>
  <p:sldIdLst>
    <p:sldId id="410" r:id="rId5"/>
    <p:sldId id="383" r:id="rId6"/>
    <p:sldId id="411" r:id="rId7"/>
    <p:sldId id="397" r:id="rId8"/>
    <p:sldId id="412" r:id="rId9"/>
    <p:sldId id="413" r:id="rId10"/>
    <p:sldId id="414" r:id="rId11"/>
    <p:sldId id="415" r:id="rId12"/>
    <p:sldId id="416" r:id="rId13"/>
    <p:sldId id="417" r:id="rId14"/>
    <p:sldId id="418" r:id="rId15"/>
    <p:sldId id="419" r:id="rId16"/>
    <p:sldId id="420" r:id="rId17"/>
    <p:sldId id="421" r:id="rId18"/>
    <p:sldId id="422" r:id="rId19"/>
    <p:sldId id="408" r:id="rId20"/>
    <p:sldId id="407" r:id="rId21"/>
    <p:sldId id="3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autoAdjust="0"/>
  </p:normalViewPr>
  <p:slideViewPr>
    <p:cSldViewPr snapToGrid="0">
      <p:cViewPr varScale="1">
        <p:scale>
          <a:sx n="89" d="100"/>
          <a:sy n="89" d="100"/>
        </p:scale>
        <p:origin x="46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7/19/2025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7/19/2025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2022C-F67D-4F87-7AE3-D2115B13C1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568F8-A0B6-28D2-C4E3-AF4C4304E7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4AB7A-67C4-F607-A4E1-026289D732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DB3ADD-BF95-7110-8809-9D4203816C38}"/>
              </a:ext>
            </a:extLst>
          </p:cNvPr>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249977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501160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sp1mkBfGlTIfmZQLYkSJIitzSPdh3VA6/view?usp=sharing"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712191" y="411479"/>
            <a:ext cx="8084113" cy="3291840"/>
          </a:xfrm>
        </p:spPr>
        <p:txBody>
          <a:bodyPr/>
          <a:lstStyle/>
          <a:p>
            <a:r>
              <a:rPr lang="en-US" sz="5400" dirty="0"/>
              <a:t>Sales Performance Analysis of Walmart Stores Using Advanced MySQL Techniques</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Contents</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r>
              <a:rPr lang="en-US" dirty="0"/>
              <a:t>Problem Statement</a:t>
            </a:r>
          </a:p>
          <a:p>
            <a:r>
              <a:rPr lang="en-US" dirty="0"/>
              <a:t>Walmart Sales Data Analysis</a:t>
            </a:r>
          </a:p>
          <a:p>
            <a:r>
              <a:rPr lang="en-US" dirty="0"/>
              <a:t>Insights and Suggestions</a:t>
            </a:r>
          </a:p>
          <a:p>
            <a:r>
              <a:rPr lang="en-US" dirty="0"/>
              <a:t>Video Explanation Link</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F281-E687-1632-9D5C-59B655987D3F}"/>
              </a:ext>
            </a:extLst>
          </p:cNvPr>
          <p:cNvSpPr>
            <a:spLocks noGrp="1"/>
          </p:cNvSpPr>
          <p:nvPr>
            <p:ph type="title"/>
          </p:nvPr>
        </p:nvSpPr>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8D285F70-4E07-90B1-FECA-BDCAA1A91257}"/>
              </a:ext>
            </a:extLst>
          </p:cNvPr>
          <p:cNvSpPr>
            <a:spLocks noGrp="1"/>
          </p:cNvSpPr>
          <p:nvPr>
            <p:ph sz="quarter" idx="13"/>
          </p:nvPr>
        </p:nvSpPr>
        <p:spPr>
          <a:xfrm>
            <a:off x="1146412" y="2388357"/>
            <a:ext cx="10321688" cy="3630305"/>
          </a:xfrm>
        </p:spPr>
        <p:txBody>
          <a:bodyPr>
            <a:normAutofit/>
          </a:bodyPr>
          <a:lstStyle/>
          <a:p>
            <a:pPr marL="0" indent="0" algn="just">
              <a:buNone/>
            </a:pPr>
            <a:r>
              <a:rPr lang="en-US" sz="3200" dirty="0"/>
              <a:t>Walmart wants to optimize its sales strategies by analyzing historical transaction data across branches, customer types, payment methods, and product lines. To achieve this, advanced MySQL queries will be employed to answer challenging business questions related to sales performance, customer segmentation, and product trends.</a:t>
            </a:r>
            <a:endParaRPr lang="en-IN" sz="3200" dirty="0"/>
          </a:p>
        </p:txBody>
      </p:sp>
    </p:spTree>
    <p:extLst>
      <p:ext uri="{BB962C8B-B14F-4D97-AF65-F5344CB8AC3E}">
        <p14:creationId xmlns:p14="http://schemas.microsoft.com/office/powerpoint/2010/main" val="174210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AB6D40A-2A0A-AF3D-8CF7-3ECD37765637}"/>
              </a:ext>
            </a:extLst>
          </p:cNvPr>
          <p:cNvSpPr>
            <a:spLocks noGrp="1"/>
          </p:cNvSpPr>
          <p:nvPr>
            <p:ph type="ctrTitle"/>
          </p:nvPr>
        </p:nvSpPr>
        <p:spPr>
          <a:xfrm>
            <a:off x="6309904" y="411479"/>
            <a:ext cx="5486400" cy="3291840"/>
          </a:xfrm>
        </p:spPr>
        <p:txBody>
          <a:bodyPr/>
          <a:lstStyle/>
          <a:p>
            <a:r>
              <a:rPr lang="en-US" dirty="0"/>
              <a:t>Walmart Sales Data Analysis</a:t>
            </a:r>
          </a:p>
        </p:txBody>
      </p:sp>
      <p:sp>
        <p:nvSpPr>
          <p:cNvPr id="3" name="Text Placeholder 2">
            <a:extLst>
              <a:ext uri="{FF2B5EF4-FFF2-40B4-BE49-F238E27FC236}">
                <a16:creationId xmlns:a16="http://schemas.microsoft.com/office/drawing/2014/main" id="{591442CD-A26D-1761-8CE7-8BC3075BB4ED}"/>
              </a:ext>
            </a:extLst>
          </p:cNvPr>
          <p:cNvSpPr>
            <a:spLocks noGrp="1"/>
          </p:cNvSpPr>
          <p:nvPr>
            <p:ph type="body" sz="quarter" idx="11"/>
          </p:nvPr>
        </p:nvSpPr>
        <p:spPr>
          <a:xfrm>
            <a:off x="6309904" y="4299045"/>
            <a:ext cx="5486401" cy="1896427"/>
          </a:xfrm>
        </p:spPr>
        <p:txBody>
          <a:bodyPr>
            <a:normAutofit/>
          </a:bodyPr>
          <a:lstStyle/>
          <a:p>
            <a:r>
              <a:rPr lang="en-US" dirty="0"/>
              <a:t>Several analysis performed using SQL to understand the branch sales distribution, various product line performance, customer segment analysis and purchase behavior etc. </a:t>
            </a:r>
          </a:p>
        </p:txBody>
      </p:sp>
    </p:spTree>
    <p:extLst>
      <p:ext uri="{BB962C8B-B14F-4D97-AF65-F5344CB8AC3E}">
        <p14:creationId xmlns:p14="http://schemas.microsoft.com/office/powerpoint/2010/main" val="2039059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B7D02-2B71-63D8-88FB-3493F4727BDA}"/>
              </a:ext>
            </a:extLst>
          </p:cNvPr>
          <p:cNvSpPr>
            <a:spLocks noGrp="1"/>
          </p:cNvSpPr>
          <p:nvPr>
            <p:ph type="title"/>
          </p:nvPr>
        </p:nvSpPr>
        <p:spPr>
          <a:xfrm>
            <a:off x="3670933" y="4817659"/>
            <a:ext cx="7926705" cy="1224817"/>
          </a:xfrm>
        </p:spPr>
        <p:txBody>
          <a:bodyPr/>
          <a:lstStyle/>
          <a:p>
            <a:r>
              <a:rPr lang="en-US" sz="4000" dirty="0"/>
              <a:t>Identifying the Top Branch by Sales Growth Rate</a:t>
            </a:r>
            <a:endParaRPr lang="en-IN" sz="4000" dirty="0"/>
          </a:p>
        </p:txBody>
      </p:sp>
      <p:pic>
        <p:nvPicPr>
          <p:cNvPr id="6" name="Content Placeholder 5">
            <a:extLst>
              <a:ext uri="{FF2B5EF4-FFF2-40B4-BE49-F238E27FC236}">
                <a16:creationId xmlns:a16="http://schemas.microsoft.com/office/drawing/2014/main" id="{AE4807C1-63CF-86DF-0F13-DF3B640A1FB2}"/>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5083" y="1460310"/>
            <a:ext cx="3376175" cy="2115403"/>
          </a:xfrm>
        </p:spPr>
      </p:pic>
      <p:sp>
        <p:nvSpPr>
          <p:cNvPr id="4" name="Content Placeholder 3">
            <a:extLst>
              <a:ext uri="{FF2B5EF4-FFF2-40B4-BE49-F238E27FC236}">
                <a16:creationId xmlns:a16="http://schemas.microsoft.com/office/drawing/2014/main" id="{C5993327-3877-314D-DC80-AC9DBB8BCD6C}"/>
              </a:ext>
            </a:extLst>
          </p:cNvPr>
          <p:cNvSpPr>
            <a:spLocks noGrp="1"/>
          </p:cNvSpPr>
          <p:nvPr>
            <p:ph sz="quarter" idx="13"/>
          </p:nvPr>
        </p:nvSpPr>
        <p:spPr>
          <a:xfrm>
            <a:off x="3670934" y="584005"/>
            <a:ext cx="7926706" cy="4233654"/>
          </a:xfrm>
        </p:spPr>
        <p:txBody>
          <a:bodyPr>
            <a:normAutofit/>
          </a:bodyPr>
          <a:lstStyle/>
          <a:p>
            <a:pPr marL="402336" lvl="1" indent="0">
              <a:buNone/>
            </a:pPr>
            <a:r>
              <a:rPr lang="en-US" dirty="0"/>
              <a:t>with </a:t>
            </a:r>
            <a:r>
              <a:rPr lang="en-US" b="1" dirty="0" err="1"/>
              <a:t>Monthly_sales</a:t>
            </a:r>
            <a:r>
              <a:rPr lang="en-US" b="1" dirty="0"/>
              <a:t> </a:t>
            </a:r>
            <a:r>
              <a:rPr lang="en-US" dirty="0"/>
              <a:t>as(SELECT branch, Month(STR_TO_DATE(date, '%d-%m-%Y')) AS </a:t>
            </a:r>
            <a:r>
              <a:rPr lang="en-US" dirty="0" err="1"/>
              <a:t>sale_month</a:t>
            </a:r>
            <a:r>
              <a:rPr lang="en-US" dirty="0"/>
              <a:t>, SUM(total) AS </a:t>
            </a:r>
            <a:r>
              <a:rPr lang="en-US" dirty="0" err="1"/>
              <a:t>monthly_total</a:t>
            </a:r>
            <a:r>
              <a:rPr lang="en-US" dirty="0"/>
              <a:t> FROM </a:t>
            </a:r>
            <a:r>
              <a:rPr lang="en-US" dirty="0" err="1"/>
              <a:t>walmartsales</a:t>
            </a:r>
            <a:r>
              <a:rPr lang="en-US" dirty="0"/>
              <a:t> GROUP BY branch, </a:t>
            </a:r>
            <a:r>
              <a:rPr lang="en-US" dirty="0" err="1"/>
              <a:t>sale_month</a:t>
            </a:r>
            <a:r>
              <a:rPr lang="en-US" dirty="0"/>
              <a:t>),</a:t>
            </a:r>
          </a:p>
          <a:p>
            <a:pPr marL="402336" lvl="1" indent="0">
              <a:buNone/>
            </a:pPr>
            <a:r>
              <a:rPr lang="en-US" b="1" dirty="0" err="1"/>
              <a:t>monthly_growth</a:t>
            </a:r>
            <a:r>
              <a:rPr lang="en-US" b="1" dirty="0"/>
              <a:t> </a:t>
            </a:r>
            <a:r>
              <a:rPr lang="en-US" dirty="0"/>
              <a:t>as(select branch, </a:t>
            </a:r>
            <a:r>
              <a:rPr lang="en-US" dirty="0" err="1"/>
              <a:t>sale_month</a:t>
            </a:r>
            <a:r>
              <a:rPr lang="en-US" dirty="0"/>
              <a:t>, </a:t>
            </a:r>
            <a:r>
              <a:rPr lang="en-US" dirty="0" err="1"/>
              <a:t>monthly_total</a:t>
            </a:r>
            <a:r>
              <a:rPr lang="en-US" dirty="0"/>
              <a:t>, lag(</a:t>
            </a:r>
            <a:r>
              <a:rPr lang="en-US" dirty="0" err="1"/>
              <a:t>monthly_total</a:t>
            </a:r>
            <a:r>
              <a:rPr lang="en-US" dirty="0"/>
              <a:t>) over(partition by branch order by </a:t>
            </a:r>
            <a:r>
              <a:rPr lang="en-US" dirty="0" err="1"/>
              <a:t>sale_month</a:t>
            </a:r>
            <a:r>
              <a:rPr lang="en-US" dirty="0"/>
              <a:t>) as </a:t>
            </a:r>
            <a:r>
              <a:rPr lang="en-US" dirty="0" err="1"/>
              <a:t>prev_month_total</a:t>
            </a:r>
            <a:r>
              <a:rPr lang="en-US" dirty="0"/>
              <a:t>, (</a:t>
            </a:r>
            <a:r>
              <a:rPr lang="en-US" dirty="0" err="1"/>
              <a:t>monthly_total</a:t>
            </a:r>
            <a:r>
              <a:rPr lang="en-US" dirty="0"/>
              <a:t>- lag(</a:t>
            </a:r>
            <a:r>
              <a:rPr lang="en-US" dirty="0" err="1"/>
              <a:t>monthly_total</a:t>
            </a:r>
            <a:r>
              <a:rPr lang="en-US" dirty="0"/>
              <a:t>) over(partition by branch order by </a:t>
            </a:r>
            <a:r>
              <a:rPr lang="en-US" dirty="0" err="1"/>
              <a:t>sale_month</a:t>
            </a:r>
            <a:r>
              <a:rPr lang="en-US" dirty="0"/>
              <a:t>))/ </a:t>
            </a:r>
            <a:r>
              <a:rPr lang="en-US" dirty="0" err="1"/>
              <a:t>nullif</a:t>
            </a:r>
            <a:r>
              <a:rPr lang="en-US" dirty="0"/>
              <a:t>(lag(</a:t>
            </a:r>
            <a:r>
              <a:rPr lang="en-US" dirty="0" err="1"/>
              <a:t>monthly_total</a:t>
            </a:r>
            <a:r>
              <a:rPr lang="en-US" dirty="0"/>
              <a:t>) over(partition by branch order by </a:t>
            </a:r>
            <a:r>
              <a:rPr lang="en-US" dirty="0" err="1"/>
              <a:t>sale_month</a:t>
            </a:r>
            <a:r>
              <a:rPr lang="en-US" dirty="0"/>
              <a:t>),0) as </a:t>
            </a:r>
            <a:r>
              <a:rPr lang="en-US" dirty="0" err="1"/>
              <a:t>growth_rate</a:t>
            </a:r>
            <a:r>
              <a:rPr lang="en-US" dirty="0"/>
              <a:t> from </a:t>
            </a:r>
            <a:r>
              <a:rPr lang="en-US" dirty="0" err="1"/>
              <a:t>Monthly_sales</a:t>
            </a:r>
            <a:r>
              <a:rPr lang="en-US" dirty="0"/>
              <a:t>)</a:t>
            </a:r>
          </a:p>
          <a:p>
            <a:pPr marL="402336" lvl="1" indent="0">
              <a:buNone/>
            </a:pPr>
            <a:r>
              <a:rPr lang="en-US" dirty="0"/>
              <a:t>Select branch, round(AVG(</a:t>
            </a:r>
            <a:r>
              <a:rPr lang="en-US" dirty="0" err="1"/>
              <a:t>growth_rate</a:t>
            </a:r>
            <a:r>
              <a:rPr lang="en-US" dirty="0"/>
              <a:t>)*100,4) as </a:t>
            </a:r>
            <a:r>
              <a:rPr lang="en-US" dirty="0" err="1"/>
              <a:t>avg_growth_percentage</a:t>
            </a:r>
            <a:r>
              <a:rPr lang="en-US" dirty="0"/>
              <a:t> from </a:t>
            </a:r>
            <a:r>
              <a:rPr lang="en-US" dirty="0" err="1"/>
              <a:t>monthly_growth</a:t>
            </a:r>
            <a:r>
              <a:rPr lang="en-US" dirty="0"/>
              <a:t> group by branch order by </a:t>
            </a:r>
            <a:r>
              <a:rPr lang="en-US" dirty="0" err="1"/>
              <a:t>avg_growth_percentage</a:t>
            </a:r>
            <a:r>
              <a:rPr lang="en-US" dirty="0"/>
              <a:t> desc;</a:t>
            </a:r>
            <a:endParaRPr lang="en-IN" dirty="0"/>
          </a:p>
        </p:txBody>
      </p:sp>
    </p:spTree>
    <p:extLst>
      <p:ext uri="{BB962C8B-B14F-4D97-AF65-F5344CB8AC3E}">
        <p14:creationId xmlns:p14="http://schemas.microsoft.com/office/powerpoint/2010/main" val="3148463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04D67-41E3-6F93-E991-8CDC48AAA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B9C46-4DB7-599D-62E4-8A1F5C891332}"/>
              </a:ext>
            </a:extLst>
          </p:cNvPr>
          <p:cNvSpPr>
            <a:spLocks noGrp="1"/>
          </p:cNvSpPr>
          <p:nvPr>
            <p:ph type="title"/>
          </p:nvPr>
        </p:nvSpPr>
        <p:spPr>
          <a:xfrm>
            <a:off x="3670933" y="4817659"/>
            <a:ext cx="7926705" cy="1224817"/>
          </a:xfrm>
        </p:spPr>
        <p:txBody>
          <a:bodyPr/>
          <a:lstStyle/>
          <a:p>
            <a:r>
              <a:rPr lang="en-US" sz="4000" dirty="0"/>
              <a:t>Finding the Most Profitable Product Line for Each Branch</a:t>
            </a:r>
            <a:endParaRPr lang="en-IN" sz="4000" dirty="0"/>
          </a:p>
        </p:txBody>
      </p:sp>
      <p:sp>
        <p:nvSpPr>
          <p:cNvPr id="4" name="Content Placeholder 3">
            <a:extLst>
              <a:ext uri="{FF2B5EF4-FFF2-40B4-BE49-F238E27FC236}">
                <a16:creationId xmlns:a16="http://schemas.microsoft.com/office/drawing/2014/main" id="{5FBD1BF5-2929-9299-45D5-EA8BB8F99F5A}"/>
              </a:ext>
            </a:extLst>
          </p:cNvPr>
          <p:cNvSpPr>
            <a:spLocks noGrp="1"/>
          </p:cNvSpPr>
          <p:nvPr>
            <p:ph sz="quarter" idx="13"/>
          </p:nvPr>
        </p:nvSpPr>
        <p:spPr>
          <a:xfrm>
            <a:off x="3670932" y="1091821"/>
            <a:ext cx="7926707" cy="3507475"/>
          </a:xfrm>
        </p:spPr>
        <p:txBody>
          <a:bodyPr>
            <a:normAutofit/>
          </a:bodyPr>
          <a:lstStyle/>
          <a:p>
            <a:pPr marL="402336" lvl="1" indent="0">
              <a:buNone/>
            </a:pPr>
            <a:r>
              <a:rPr lang="en-US" dirty="0"/>
              <a:t>with </a:t>
            </a:r>
            <a:r>
              <a:rPr lang="en-US" b="1" dirty="0" err="1"/>
              <a:t>profit_analysis</a:t>
            </a:r>
            <a:r>
              <a:rPr lang="en-US" b="1" dirty="0"/>
              <a:t> </a:t>
            </a:r>
            <a:r>
              <a:rPr lang="en-US" dirty="0"/>
              <a:t>as(select Branch, `Product line`, sum((`gross income`- cogs )) as </a:t>
            </a:r>
            <a:r>
              <a:rPr lang="en-US" dirty="0" err="1"/>
              <a:t>total_profit</a:t>
            </a:r>
            <a:r>
              <a:rPr lang="en-US" dirty="0"/>
              <a:t>, (sum(`gross income`- cogs )/</a:t>
            </a:r>
            <a:r>
              <a:rPr lang="en-US" dirty="0" err="1"/>
              <a:t>nullif</a:t>
            </a:r>
            <a:r>
              <a:rPr lang="en-US" dirty="0"/>
              <a:t>(sum(`gross income`),0)) as </a:t>
            </a:r>
            <a:r>
              <a:rPr lang="en-US" dirty="0" err="1"/>
              <a:t>profit_margin</a:t>
            </a:r>
            <a:r>
              <a:rPr lang="en-US" dirty="0"/>
              <a:t> from </a:t>
            </a:r>
            <a:r>
              <a:rPr lang="en-US" dirty="0" err="1"/>
              <a:t>walmartsales</a:t>
            </a:r>
            <a:r>
              <a:rPr lang="en-US" dirty="0"/>
              <a:t> group by Branch, `Product line`), </a:t>
            </a:r>
          </a:p>
          <a:p>
            <a:pPr marL="402336" lvl="1" indent="0">
              <a:buNone/>
            </a:pPr>
            <a:r>
              <a:rPr lang="en-US" b="1" dirty="0" err="1"/>
              <a:t>profit_rank</a:t>
            </a:r>
            <a:r>
              <a:rPr lang="en-US" dirty="0"/>
              <a:t> as (select *,rank() over(partition by branch order by </a:t>
            </a:r>
            <a:r>
              <a:rPr lang="en-US" dirty="0" err="1"/>
              <a:t>profit_margin</a:t>
            </a:r>
            <a:r>
              <a:rPr lang="en-US" dirty="0"/>
              <a:t> desc) as </a:t>
            </a:r>
            <a:r>
              <a:rPr lang="en-US" dirty="0" err="1"/>
              <a:t>rank_profit_margin</a:t>
            </a:r>
            <a:r>
              <a:rPr lang="en-US" dirty="0"/>
              <a:t> from </a:t>
            </a:r>
            <a:r>
              <a:rPr lang="en-US" dirty="0" err="1"/>
              <a:t>profit_analysis</a:t>
            </a:r>
            <a:r>
              <a:rPr lang="en-US" dirty="0"/>
              <a:t>)</a:t>
            </a:r>
          </a:p>
          <a:p>
            <a:pPr marL="402336" lvl="1" indent="0">
              <a:buNone/>
            </a:pPr>
            <a:r>
              <a:rPr lang="en-US" dirty="0"/>
              <a:t>select Branch, `Product Line` as </a:t>
            </a:r>
            <a:r>
              <a:rPr lang="en-US" dirty="0" err="1"/>
              <a:t>most_profitable_product_line</a:t>
            </a:r>
            <a:r>
              <a:rPr lang="en-US" dirty="0"/>
              <a:t> from </a:t>
            </a:r>
            <a:r>
              <a:rPr lang="en-US" dirty="0" err="1"/>
              <a:t>profit_rank</a:t>
            </a:r>
            <a:r>
              <a:rPr lang="en-US" dirty="0"/>
              <a:t> where </a:t>
            </a:r>
            <a:r>
              <a:rPr lang="en-US" dirty="0" err="1"/>
              <a:t>rank_profit_margin</a:t>
            </a:r>
            <a:r>
              <a:rPr lang="en-US" dirty="0"/>
              <a:t>=1;</a:t>
            </a:r>
            <a:endParaRPr lang="en-IN" dirty="0"/>
          </a:p>
        </p:txBody>
      </p:sp>
      <p:pic>
        <p:nvPicPr>
          <p:cNvPr id="8" name="Content Placeholder 7">
            <a:extLst>
              <a:ext uri="{FF2B5EF4-FFF2-40B4-BE49-F238E27FC236}">
                <a16:creationId xmlns:a16="http://schemas.microsoft.com/office/drawing/2014/main" id="{391009D2-6C0C-E02A-F6E1-11B0608A08FC}"/>
              </a:ext>
            </a:extLst>
          </p:cNvPr>
          <p:cNvPicPr>
            <a:picLocks noGrp="1" noChangeAspect="1"/>
          </p:cNvPicPr>
          <p:nvPr>
            <p:ph sz="quarter" idx="14"/>
          </p:nvPr>
        </p:nvPicPr>
        <p:blipFill>
          <a:blip r:embed="rId2"/>
          <a:stretch>
            <a:fillRect/>
          </a:stretch>
        </p:blipFill>
        <p:spPr>
          <a:xfrm>
            <a:off x="103129" y="1528549"/>
            <a:ext cx="3567803" cy="2142699"/>
          </a:xfrm>
        </p:spPr>
      </p:pic>
    </p:spTree>
    <p:extLst>
      <p:ext uri="{BB962C8B-B14F-4D97-AF65-F5344CB8AC3E}">
        <p14:creationId xmlns:p14="http://schemas.microsoft.com/office/powerpoint/2010/main" val="2190193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9ECA0-3E23-986F-2E32-A91E9C377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74182-A95D-3401-F136-BEE2E8077E31}"/>
              </a:ext>
            </a:extLst>
          </p:cNvPr>
          <p:cNvSpPr>
            <a:spLocks noGrp="1"/>
          </p:cNvSpPr>
          <p:nvPr>
            <p:ph type="title"/>
          </p:nvPr>
        </p:nvSpPr>
        <p:spPr>
          <a:xfrm>
            <a:off x="3670933" y="4817659"/>
            <a:ext cx="7926705" cy="1224817"/>
          </a:xfrm>
        </p:spPr>
        <p:txBody>
          <a:bodyPr/>
          <a:lstStyle/>
          <a:p>
            <a:r>
              <a:rPr lang="en-US" sz="3600" dirty="0"/>
              <a:t>Analyzing Customer Segmentation Based on Spending</a:t>
            </a:r>
            <a:endParaRPr lang="en-IN" sz="3600" dirty="0"/>
          </a:p>
        </p:txBody>
      </p:sp>
      <p:sp>
        <p:nvSpPr>
          <p:cNvPr id="4" name="Content Placeholder 3">
            <a:extLst>
              <a:ext uri="{FF2B5EF4-FFF2-40B4-BE49-F238E27FC236}">
                <a16:creationId xmlns:a16="http://schemas.microsoft.com/office/drawing/2014/main" id="{06C22E69-FF90-307B-687F-6359A244C240}"/>
              </a:ext>
            </a:extLst>
          </p:cNvPr>
          <p:cNvSpPr>
            <a:spLocks noGrp="1"/>
          </p:cNvSpPr>
          <p:nvPr>
            <p:ph sz="quarter" idx="13"/>
          </p:nvPr>
        </p:nvSpPr>
        <p:spPr>
          <a:xfrm>
            <a:off x="6096000" y="491319"/>
            <a:ext cx="5501639" cy="4326340"/>
          </a:xfrm>
        </p:spPr>
        <p:txBody>
          <a:bodyPr>
            <a:normAutofit fontScale="92500" lnSpcReduction="10000"/>
          </a:bodyPr>
          <a:lstStyle/>
          <a:p>
            <a:pPr marL="859536" lvl="2" indent="0">
              <a:buNone/>
            </a:pPr>
            <a:r>
              <a:rPr lang="en-US" dirty="0"/>
              <a:t>select `Customer ID`, avg(Total) as </a:t>
            </a:r>
            <a:r>
              <a:rPr lang="en-US" dirty="0" err="1"/>
              <a:t>avg_purchase_amount</a:t>
            </a:r>
            <a:r>
              <a:rPr lang="en-US" dirty="0"/>
              <a:t>, sum(Total) as </a:t>
            </a:r>
            <a:r>
              <a:rPr lang="en-US" dirty="0" err="1"/>
              <a:t>total_purchase_amount</a:t>
            </a:r>
            <a:r>
              <a:rPr lang="en-US" dirty="0"/>
              <a:t>,</a:t>
            </a:r>
          </a:p>
          <a:p>
            <a:pPr marL="859536" lvl="2" indent="0">
              <a:buNone/>
            </a:pPr>
            <a:r>
              <a:rPr lang="en-US" dirty="0"/>
              <a:t>case </a:t>
            </a:r>
          </a:p>
          <a:p>
            <a:pPr marL="859536" lvl="2" indent="0">
              <a:buNone/>
            </a:pPr>
            <a:r>
              <a:rPr lang="en-US" dirty="0"/>
              <a:t>when avg(Total)&gt; 335 then 'High spender’</a:t>
            </a:r>
          </a:p>
          <a:p>
            <a:pPr marL="859536" lvl="2" indent="0">
              <a:buNone/>
            </a:pPr>
            <a:r>
              <a:rPr lang="en-US" dirty="0"/>
              <a:t>when avg(Total)&lt; 300 then 'Low Spender’</a:t>
            </a:r>
          </a:p>
          <a:p>
            <a:pPr marL="859536" lvl="2" indent="0">
              <a:buNone/>
            </a:pPr>
            <a:r>
              <a:rPr lang="en-US" dirty="0"/>
              <a:t>else 'Medium Spender’</a:t>
            </a:r>
          </a:p>
          <a:p>
            <a:pPr marL="859536" lvl="2" indent="0">
              <a:buNone/>
            </a:pPr>
            <a:r>
              <a:rPr lang="en-US" dirty="0"/>
              <a:t>end as </a:t>
            </a:r>
            <a:r>
              <a:rPr lang="en-US" dirty="0" err="1"/>
              <a:t>Customer_spend_class</a:t>
            </a:r>
            <a:r>
              <a:rPr lang="en-US" dirty="0"/>
              <a:t>  </a:t>
            </a:r>
          </a:p>
          <a:p>
            <a:pPr marL="859536" lvl="2" indent="0">
              <a:buNone/>
            </a:pPr>
            <a:r>
              <a:rPr lang="en-US" dirty="0"/>
              <a:t>from </a:t>
            </a:r>
            <a:r>
              <a:rPr lang="en-US" dirty="0" err="1"/>
              <a:t>walmartsales</a:t>
            </a:r>
            <a:r>
              <a:rPr lang="en-US" dirty="0"/>
              <a:t>  </a:t>
            </a:r>
          </a:p>
          <a:p>
            <a:pPr marL="859536" lvl="2" indent="0">
              <a:buNone/>
            </a:pPr>
            <a:r>
              <a:rPr lang="en-US" dirty="0"/>
              <a:t>group by `Customer ID` order by </a:t>
            </a:r>
            <a:r>
              <a:rPr lang="en-US" dirty="0" err="1"/>
              <a:t>avg_purchase_amount</a:t>
            </a:r>
            <a:r>
              <a:rPr lang="en-US" dirty="0"/>
              <a:t> Desc;</a:t>
            </a:r>
            <a:endParaRPr lang="en-IN" dirty="0"/>
          </a:p>
        </p:txBody>
      </p:sp>
      <p:pic>
        <p:nvPicPr>
          <p:cNvPr id="18" name="Content Placeholder 17">
            <a:extLst>
              <a:ext uri="{FF2B5EF4-FFF2-40B4-BE49-F238E27FC236}">
                <a16:creationId xmlns:a16="http://schemas.microsoft.com/office/drawing/2014/main" id="{F2635EB7-5780-DBC5-16AD-2EE1DF65D04A}"/>
              </a:ext>
            </a:extLst>
          </p:cNvPr>
          <p:cNvPicPr>
            <a:picLocks noGrp="1" noChangeAspect="1"/>
          </p:cNvPicPr>
          <p:nvPr>
            <p:ph sz="quarter" idx="14"/>
          </p:nvPr>
        </p:nvPicPr>
        <p:blipFill>
          <a:blip r:embed="rId2"/>
          <a:stretch>
            <a:fillRect/>
          </a:stretch>
        </p:blipFill>
        <p:spPr>
          <a:xfrm>
            <a:off x="603249" y="485007"/>
            <a:ext cx="6104927" cy="4223471"/>
          </a:xfrm>
        </p:spPr>
      </p:pic>
    </p:spTree>
    <p:extLst>
      <p:ext uri="{BB962C8B-B14F-4D97-AF65-F5344CB8AC3E}">
        <p14:creationId xmlns:p14="http://schemas.microsoft.com/office/powerpoint/2010/main" val="994170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12B46-7D7E-6146-AC7A-CA3EEDBCD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3B373-C2D4-770F-54F1-47B3B834B384}"/>
              </a:ext>
            </a:extLst>
          </p:cNvPr>
          <p:cNvSpPr>
            <a:spLocks noGrp="1"/>
          </p:cNvSpPr>
          <p:nvPr>
            <p:ph type="title"/>
          </p:nvPr>
        </p:nvSpPr>
        <p:spPr>
          <a:xfrm>
            <a:off x="3670933" y="4817659"/>
            <a:ext cx="7926705" cy="1224817"/>
          </a:xfrm>
        </p:spPr>
        <p:txBody>
          <a:bodyPr/>
          <a:lstStyle/>
          <a:p>
            <a:r>
              <a:rPr lang="en-US" sz="4000" dirty="0"/>
              <a:t>Detecting Anomalies in Sales Transactions </a:t>
            </a:r>
            <a:endParaRPr lang="en-IN" sz="4000" dirty="0"/>
          </a:p>
        </p:txBody>
      </p:sp>
      <p:sp>
        <p:nvSpPr>
          <p:cNvPr id="4" name="Content Placeholder 3">
            <a:extLst>
              <a:ext uri="{FF2B5EF4-FFF2-40B4-BE49-F238E27FC236}">
                <a16:creationId xmlns:a16="http://schemas.microsoft.com/office/drawing/2014/main" id="{814617BE-297E-866E-8A14-7A3D80F57F0B}"/>
              </a:ext>
            </a:extLst>
          </p:cNvPr>
          <p:cNvSpPr>
            <a:spLocks noGrp="1"/>
          </p:cNvSpPr>
          <p:nvPr>
            <p:ph sz="quarter" idx="13"/>
          </p:nvPr>
        </p:nvSpPr>
        <p:spPr>
          <a:xfrm>
            <a:off x="5718411" y="259307"/>
            <a:ext cx="5879227" cy="4558351"/>
          </a:xfrm>
        </p:spPr>
        <p:txBody>
          <a:bodyPr>
            <a:normAutofit/>
          </a:bodyPr>
          <a:lstStyle/>
          <a:p>
            <a:pPr marL="402336" lvl="1" indent="0">
              <a:buNone/>
            </a:pPr>
            <a:r>
              <a:rPr lang="en-US" dirty="0"/>
              <a:t>WITH </a:t>
            </a:r>
            <a:r>
              <a:rPr lang="en-US" b="1" dirty="0" err="1"/>
              <a:t>product_line_analysis</a:t>
            </a:r>
            <a:r>
              <a:rPr lang="en-US" b="1" dirty="0"/>
              <a:t> </a:t>
            </a:r>
            <a:r>
              <a:rPr lang="en-US" dirty="0"/>
              <a:t>AS (SELECT `Product line`, AVG(Total) AS </a:t>
            </a:r>
            <a:r>
              <a:rPr lang="en-US" dirty="0" err="1"/>
              <a:t>avg_total</a:t>
            </a:r>
            <a:r>
              <a:rPr lang="en-US" dirty="0"/>
              <a:t>, STDDEV(Total) AS </a:t>
            </a:r>
            <a:r>
              <a:rPr lang="en-US" dirty="0" err="1"/>
              <a:t>std_total</a:t>
            </a:r>
            <a:r>
              <a:rPr lang="en-US" dirty="0"/>
              <a:t> FROM </a:t>
            </a:r>
            <a:r>
              <a:rPr lang="en-US" dirty="0" err="1"/>
              <a:t>walmartsales</a:t>
            </a:r>
            <a:r>
              <a:rPr lang="en-US" dirty="0"/>
              <a:t> GROUP BY `Product line`)</a:t>
            </a:r>
          </a:p>
          <a:p>
            <a:pPr marL="402336" lvl="1" indent="0">
              <a:buNone/>
            </a:pPr>
            <a:r>
              <a:rPr lang="en-US" dirty="0"/>
              <a:t>SELECT </a:t>
            </a:r>
            <a:r>
              <a:rPr lang="en-US" dirty="0" err="1"/>
              <a:t>walmartsales</a:t>
            </a:r>
            <a:r>
              <a:rPr lang="en-US" dirty="0"/>
              <a:t>.`Invoice ID`, </a:t>
            </a:r>
            <a:r>
              <a:rPr lang="en-US" dirty="0" err="1"/>
              <a:t>walmartsales.Total</a:t>
            </a:r>
            <a:r>
              <a:rPr lang="en-US" dirty="0"/>
              <a:t>, product_line_analysis.* FROM </a:t>
            </a:r>
            <a:r>
              <a:rPr lang="en-US" dirty="0" err="1"/>
              <a:t>walmartsales</a:t>
            </a:r>
            <a:r>
              <a:rPr lang="en-US" dirty="0"/>
              <a:t> JOIN </a:t>
            </a:r>
            <a:r>
              <a:rPr lang="en-US" dirty="0" err="1"/>
              <a:t>product_line_analysis</a:t>
            </a:r>
            <a:r>
              <a:rPr lang="en-US" dirty="0"/>
              <a:t> ON </a:t>
            </a:r>
            <a:r>
              <a:rPr lang="en-US" dirty="0" err="1"/>
              <a:t>walmartsales</a:t>
            </a:r>
            <a:r>
              <a:rPr lang="en-US" dirty="0"/>
              <a:t>.`Product line` = </a:t>
            </a:r>
            <a:r>
              <a:rPr lang="en-US" dirty="0" err="1"/>
              <a:t>product_line_analysis.`Product</a:t>
            </a:r>
            <a:r>
              <a:rPr lang="en-US" dirty="0"/>
              <a:t> line` </a:t>
            </a:r>
          </a:p>
          <a:p>
            <a:pPr marL="402336" lvl="1" indent="0">
              <a:buNone/>
            </a:pPr>
            <a:r>
              <a:rPr lang="en-US" dirty="0"/>
              <a:t>WHERE </a:t>
            </a:r>
            <a:r>
              <a:rPr lang="en-US" dirty="0" err="1"/>
              <a:t>walmartsales.Total</a:t>
            </a:r>
            <a:r>
              <a:rPr lang="en-US" dirty="0"/>
              <a:t> &gt; </a:t>
            </a:r>
            <a:r>
              <a:rPr lang="en-US" dirty="0" err="1"/>
              <a:t>product_line_analysis.avg_total</a:t>
            </a:r>
            <a:r>
              <a:rPr lang="en-US" dirty="0"/>
              <a:t> + 2 * </a:t>
            </a:r>
            <a:r>
              <a:rPr lang="en-US" dirty="0" err="1"/>
              <a:t>product_line_analysis.std_total</a:t>
            </a:r>
            <a:r>
              <a:rPr lang="en-US" dirty="0"/>
              <a:t> OR </a:t>
            </a:r>
            <a:r>
              <a:rPr lang="en-US" dirty="0" err="1"/>
              <a:t>walmartsales.Total</a:t>
            </a:r>
            <a:r>
              <a:rPr lang="en-US" dirty="0"/>
              <a:t> &lt; </a:t>
            </a:r>
            <a:r>
              <a:rPr lang="en-US" dirty="0" err="1"/>
              <a:t>product_line_analysis.avg_total</a:t>
            </a:r>
            <a:r>
              <a:rPr lang="en-US" dirty="0"/>
              <a:t> - 2 * </a:t>
            </a:r>
            <a:r>
              <a:rPr lang="en-US" dirty="0" err="1"/>
              <a:t>product_line_analysis.std_total</a:t>
            </a:r>
            <a:r>
              <a:rPr lang="en-US" dirty="0"/>
              <a:t>;</a:t>
            </a:r>
            <a:endParaRPr lang="en-IN" dirty="0"/>
          </a:p>
        </p:txBody>
      </p:sp>
      <p:pic>
        <p:nvPicPr>
          <p:cNvPr id="10" name="Content Placeholder 9">
            <a:extLst>
              <a:ext uri="{FF2B5EF4-FFF2-40B4-BE49-F238E27FC236}">
                <a16:creationId xmlns:a16="http://schemas.microsoft.com/office/drawing/2014/main" id="{4F45245D-3812-90FF-37A9-B0F93B9BF8A4}"/>
              </a:ext>
            </a:extLst>
          </p:cNvPr>
          <p:cNvPicPr>
            <a:picLocks noGrp="1" noChangeAspect="1"/>
          </p:cNvPicPr>
          <p:nvPr>
            <p:ph sz="quarter" idx="14"/>
          </p:nvPr>
        </p:nvPicPr>
        <p:blipFill>
          <a:blip r:embed="rId2"/>
          <a:stretch>
            <a:fillRect/>
          </a:stretch>
        </p:blipFill>
        <p:spPr>
          <a:xfrm>
            <a:off x="305159" y="504560"/>
            <a:ext cx="5413252" cy="4203918"/>
          </a:xfrm>
        </p:spPr>
      </p:pic>
    </p:spTree>
    <p:extLst>
      <p:ext uri="{BB962C8B-B14F-4D97-AF65-F5344CB8AC3E}">
        <p14:creationId xmlns:p14="http://schemas.microsoft.com/office/powerpoint/2010/main" val="1294087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7F7E-ECF7-81C1-4687-981494791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9ED18-7FD7-FB6E-2A12-06814F32EC2C}"/>
              </a:ext>
            </a:extLst>
          </p:cNvPr>
          <p:cNvSpPr>
            <a:spLocks noGrp="1"/>
          </p:cNvSpPr>
          <p:nvPr>
            <p:ph type="title"/>
          </p:nvPr>
        </p:nvSpPr>
        <p:spPr>
          <a:xfrm>
            <a:off x="3670933" y="4817659"/>
            <a:ext cx="7926705" cy="1224817"/>
          </a:xfrm>
        </p:spPr>
        <p:txBody>
          <a:bodyPr/>
          <a:lstStyle/>
          <a:p>
            <a:r>
              <a:rPr lang="en-US" sz="3600" dirty="0"/>
              <a:t>Most Popular Payment Method by City</a:t>
            </a:r>
            <a:endParaRPr lang="en-IN" sz="3600" dirty="0"/>
          </a:p>
        </p:txBody>
      </p:sp>
      <p:sp>
        <p:nvSpPr>
          <p:cNvPr id="4" name="Content Placeholder 3">
            <a:extLst>
              <a:ext uri="{FF2B5EF4-FFF2-40B4-BE49-F238E27FC236}">
                <a16:creationId xmlns:a16="http://schemas.microsoft.com/office/drawing/2014/main" id="{5DB2E8E6-7A24-B5B1-999E-68366A0AC9C1}"/>
              </a:ext>
            </a:extLst>
          </p:cNvPr>
          <p:cNvSpPr>
            <a:spLocks noGrp="1"/>
          </p:cNvSpPr>
          <p:nvPr>
            <p:ph sz="quarter" idx="13"/>
          </p:nvPr>
        </p:nvSpPr>
        <p:spPr>
          <a:xfrm>
            <a:off x="6048620" y="243809"/>
            <a:ext cx="5549020" cy="4573850"/>
          </a:xfrm>
        </p:spPr>
        <p:txBody>
          <a:bodyPr>
            <a:normAutofit/>
          </a:bodyPr>
          <a:lstStyle/>
          <a:p>
            <a:pPr marL="859536" lvl="2" indent="0">
              <a:buNone/>
            </a:pPr>
            <a:r>
              <a:rPr lang="en-US" dirty="0"/>
              <a:t>with </a:t>
            </a:r>
            <a:r>
              <a:rPr lang="en-US" b="1" dirty="0" err="1"/>
              <a:t>payment_method</a:t>
            </a:r>
            <a:r>
              <a:rPr lang="en-US" b="1" dirty="0"/>
              <a:t> </a:t>
            </a:r>
            <a:r>
              <a:rPr lang="en-US" dirty="0"/>
              <a:t>as(select City, Payment, count(Payment) as </a:t>
            </a:r>
            <a:r>
              <a:rPr lang="en-US" dirty="0" err="1"/>
              <a:t>count_of_transactions</a:t>
            </a:r>
            <a:r>
              <a:rPr lang="en-US" dirty="0"/>
              <a:t>  from </a:t>
            </a:r>
            <a:r>
              <a:rPr lang="en-US" dirty="0" err="1"/>
              <a:t>walmartsales</a:t>
            </a:r>
            <a:r>
              <a:rPr lang="en-US" dirty="0"/>
              <a:t> group by city, Payment),</a:t>
            </a:r>
          </a:p>
          <a:p>
            <a:pPr marL="859536" lvl="2" indent="0">
              <a:buNone/>
            </a:pPr>
            <a:r>
              <a:rPr lang="en-US" b="1" dirty="0" err="1"/>
              <a:t>payment_rank</a:t>
            </a:r>
            <a:r>
              <a:rPr lang="en-US" b="1" dirty="0"/>
              <a:t> </a:t>
            </a:r>
            <a:r>
              <a:rPr lang="en-US" dirty="0"/>
              <a:t>as( select * ,Rank() over(partition by city order by </a:t>
            </a:r>
            <a:r>
              <a:rPr lang="en-US" dirty="0" err="1"/>
              <a:t>count_of_transactions</a:t>
            </a:r>
            <a:r>
              <a:rPr lang="en-US" dirty="0"/>
              <a:t> desc) as </a:t>
            </a:r>
            <a:r>
              <a:rPr lang="en-US" dirty="0" err="1"/>
              <a:t>rank_payment_method</a:t>
            </a:r>
            <a:r>
              <a:rPr lang="en-US" dirty="0"/>
              <a:t> from </a:t>
            </a:r>
            <a:r>
              <a:rPr lang="en-US" dirty="0" err="1"/>
              <a:t>payment_method</a:t>
            </a:r>
            <a:r>
              <a:rPr lang="en-US" dirty="0"/>
              <a:t>)</a:t>
            </a:r>
          </a:p>
          <a:p>
            <a:pPr marL="859536" lvl="2" indent="0">
              <a:buNone/>
            </a:pPr>
            <a:r>
              <a:rPr lang="en-US" dirty="0"/>
              <a:t>Select City, Payment as </a:t>
            </a:r>
            <a:r>
              <a:rPr lang="en-US" dirty="0" err="1"/>
              <a:t>most_popular_payment_method</a:t>
            </a:r>
            <a:r>
              <a:rPr lang="en-US" dirty="0"/>
              <a:t>, </a:t>
            </a:r>
            <a:r>
              <a:rPr lang="en-US" dirty="0" err="1"/>
              <a:t>count_of_transactions</a:t>
            </a:r>
            <a:r>
              <a:rPr lang="en-US" dirty="0"/>
              <a:t> from </a:t>
            </a:r>
            <a:r>
              <a:rPr lang="en-US" dirty="0" err="1"/>
              <a:t>payment_rank</a:t>
            </a:r>
            <a:r>
              <a:rPr lang="en-US" dirty="0"/>
              <a:t> where </a:t>
            </a:r>
            <a:r>
              <a:rPr lang="en-US" dirty="0" err="1"/>
              <a:t>rank_payment_method</a:t>
            </a:r>
            <a:r>
              <a:rPr lang="en-US" dirty="0"/>
              <a:t>=1; </a:t>
            </a:r>
            <a:endParaRPr lang="en-IN" dirty="0"/>
          </a:p>
        </p:txBody>
      </p:sp>
      <p:pic>
        <p:nvPicPr>
          <p:cNvPr id="7" name="Content Placeholder 6">
            <a:extLst>
              <a:ext uri="{FF2B5EF4-FFF2-40B4-BE49-F238E27FC236}">
                <a16:creationId xmlns:a16="http://schemas.microsoft.com/office/drawing/2014/main" id="{1CA6C3C6-0D90-FE46-1812-E04B7830FE46}"/>
              </a:ext>
            </a:extLst>
          </p:cNvPr>
          <p:cNvPicPr>
            <a:picLocks noGrp="1" noChangeAspect="1"/>
          </p:cNvPicPr>
          <p:nvPr>
            <p:ph sz="quarter" idx="14"/>
          </p:nvPr>
        </p:nvPicPr>
        <p:blipFill>
          <a:blip r:embed="rId2"/>
          <a:stretch>
            <a:fillRect/>
          </a:stretch>
        </p:blipFill>
        <p:spPr>
          <a:xfrm>
            <a:off x="251084" y="1586553"/>
            <a:ext cx="5549020" cy="1842447"/>
          </a:xfrm>
        </p:spPr>
      </p:pic>
    </p:spTree>
    <p:extLst>
      <p:ext uri="{BB962C8B-B14F-4D97-AF65-F5344CB8AC3E}">
        <p14:creationId xmlns:p14="http://schemas.microsoft.com/office/powerpoint/2010/main" val="2063612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D2ED4-BDF0-731E-E6D8-665FAB67C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B6D43-788B-92C0-E7A2-586EB7AB9751}"/>
              </a:ext>
            </a:extLst>
          </p:cNvPr>
          <p:cNvSpPr>
            <a:spLocks noGrp="1"/>
          </p:cNvSpPr>
          <p:nvPr>
            <p:ph type="title"/>
          </p:nvPr>
        </p:nvSpPr>
        <p:spPr>
          <a:xfrm>
            <a:off x="3670933" y="4817659"/>
            <a:ext cx="7926705" cy="1224817"/>
          </a:xfrm>
        </p:spPr>
        <p:txBody>
          <a:bodyPr/>
          <a:lstStyle/>
          <a:p>
            <a:r>
              <a:rPr lang="en-US" sz="3600" dirty="0"/>
              <a:t>Monthly Sales Distribution by Gender</a:t>
            </a:r>
            <a:endParaRPr lang="en-IN" sz="3600" dirty="0"/>
          </a:p>
        </p:txBody>
      </p:sp>
      <p:sp>
        <p:nvSpPr>
          <p:cNvPr id="4" name="Content Placeholder 3">
            <a:extLst>
              <a:ext uri="{FF2B5EF4-FFF2-40B4-BE49-F238E27FC236}">
                <a16:creationId xmlns:a16="http://schemas.microsoft.com/office/drawing/2014/main" id="{0F2F5549-E56F-173C-92EF-F3BA3AC8E2A9}"/>
              </a:ext>
            </a:extLst>
          </p:cNvPr>
          <p:cNvSpPr>
            <a:spLocks noGrp="1"/>
          </p:cNvSpPr>
          <p:nvPr>
            <p:ph sz="quarter" idx="13"/>
          </p:nvPr>
        </p:nvSpPr>
        <p:spPr>
          <a:xfrm>
            <a:off x="5254386" y="789719"/>
            <a:ext cx="6343252" cy="4027940"/>
          </a:xfrm>
        </p:spPr>
        <p:txBody>
          <a:bodyPr>
            <a:normAutofit/>
          </a:bodyPr>
          <a:lstStyle/>
          <a:p>
            <a:pPr marL="859536" lvl="2" indent="0">
              <a:buNone/>
            </a:pPr>
            <a:r>
              <a:rPr lang="en-US" dirty="0"/>
              <a:t>SELECT     Gender,    month(STR_TO_DATE(Date, '%d-%m-%Y')) AS </a:t>
            </a:r>
            <a:r>
              <a:rPr lang="en-US" dirty="0" err="1"/>
              <a:t>sale_month</a:t>
            </a:r>
            <a:r>
              <a:rPr lang="en-US" dirty="0"/>
              <a:t>,    SUM(Total) AS </a:t>
            </a:r>
            <a:r>
              <a:rPr lang="en-US" dirty="0" err="1"/>
              <a:t>total_sales</a:t>
            </a:r>
            <a:endParaRPr lang="en-US" dirty="0"/>
          </a:p>
          <a:p>
            <a:pPr marL="859536" lvl="2" indent="0">
              <a:buNone/>
            </a:pPr>
            <a:r>
              <a:rPr lang="en-US" dirty="0"/>
              <a:t>FROM    </a:t>
            </a:r>
            <a:r>
              <a:rPr lang="en-US" dirty="0" err="1"/>
              <a:t>walmartsales</a:t>
            </a:r>
            <a:endParaRPr lang="en-US" dirty="0"/>
          </a:p>
          <a:p>
            <a:pPr marL="859536" lvl="2" indent="0">
              <a:buNone/>
            </a:pPr>
            <a:r>
              <a:rPr lang="en-US" dirty="0"/>
              <a:t>GROUP BY Gender , </a:t>
            </a:r>
            <a:r>
              <a:rPr lang="en-US" dirty="0" err="1"/>
              <a:t>sale_month</a:t>
            </a:r>
            <a:endParaRPr lang="en-US" dirty="0"/>
          </a:p>
          <a:p>
            <a:pPr marL="859536" lvl="2" indent="0">
              <a:buNone/>
            </a:pPr>
            <a:r>
              <a:rPr lang="en-US" dirty="0"/>
              <a:t>order by gender;</a:t>
            </a:r>
            <a:endParaRPr lang="en-IN" dirty="0"/>
          </a:p>
        </p:txBody>
      </p:sp>
      <p:pic>
        <p:nvPicPr>
          <p:cNvPr id="8" name="Content Placeholder 7">
            <a:extLst>
              <a:ext uri="{FF2B5EF4-FFF2-40B4-BE49-F238E27FC236}">
                <a16:creationId xmlns:a16="http://schemas.microsoft.com/office/drawing/2014/main" id="{FA83BFB7-F1CB-5BFE-6849-1080B3422E90}"/>
              </a:ext>
            </a:extLst>
          </p:cNvPr>
          <p:cNvPicPr>
            <a:picLocks noGrp="1" noChangeAspect="1"/>
          </p:cNvPicPr>
          <p:nvPr>
            <p:ph sz="quarter" idx="14"/>
          </p:nvPr>
        </p:nvPicPr>
        <p:blipFill>
          <a:blip r:embed="rId2"/>
          <a:stretch>
            <a:fillRect/>
          </a:stretch>
        </p:blipFill>
        <p:spPr>
          <a:xfrm>
            <a:off x="402779" y="1238604"/>
            <a:ext cx="4466711" cy="2896667"/>
          </a:xfrm>
        </p:spPr>
      </p:pic>
    </p:spTree>
    <p:extLst>
      <p:ext uri="{BB962C8B-B14F-4D97-AF65-F5344CB8AC3E}">
        <p14:creationId xmlns:p14="http://schemas.microsoft.com/office/powerpoint/2010/main" val="793984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B664-0603-139B-19F2-7DC7502B6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5C805-D69C-42B4-33DB-92B6CE1FAE0A}"/>
              </a:ext>
            </a:extLst>
          </p:cNvPr>
          <p:cNvSpPr>
            <a:spLocks noGrp="1"/>
          </p:cNvSpPr>
          <p:nvPr>
            <p:ph type="title"/>
          </p:nvPr>
        </p:nvSpPr>
        <p:spPr>
          <a:xfrm>
            <a:off x="3670933" y="4817659"/>
            <a:ext cx="7926705" cy="1224817"/>
          </a:xfrm>
        </p:spPr>
        <p:txBody>
          <a:bodyPr/>
          <a:lstStyle/>
          <a:p>
            <a:r>
              <a:rPr lang="en-US" sz="3600" dirty="0"/>
              <a:t>Best Product Line by Customer Type</a:t>
            </a:r>
            <a:endParaRPr lang="en-IN" sz="3600" dirty="0"/>
          </a:p>
        </p:txBody>
      </p:sp>
      <p:sp>
        <p:nvSpPr>
          <p:cNvPr id="4" name="Content Placeholder 3">
            <a:extLst>
              <a:ext uri="{FF2B5EF4-FFF2-40B4-BE49-F238E27FC236}">
                <a16:creationId xmlns:a16="http://schemas.microsoft.com/office/drawing/2014/main" id="{F1C67915-83A7-EDC2-A89A-1D5F2CA3A06C}"/>
              </a:ext>
            </a:extLst>
          </p:cNvPr>
          <p:cNvSpPr>
            <a:spLocks noGrp="1"/>
          </p:cNvSpPr>
          <p:nvPr>
            <p:ph sz="quarter" idx="13"/>
          </p:nvPr>
        </p:nvSpPr>
        <p:spPr>
          <a:xfrm>
            <a:off x="6048618" y="339344"/>
            <a:ext cx="5549020" cy="4573850"/>
          </a:xfrm>
        </p:spPr>
        <p:txBody>
          <a:bodyPr>
            <a:normAutofit/>
          </a:bodyPr>
          <a:lstStyle/>
          <a:p>
            <a:pPr marL="859536" lvl="2" indent="0">
              <a:buNone/>
            </a:pPr>
            <a:r>
              <a:rPr lang="en-US" dirty="0"/>
              <a:t>with </a:t>
            </a:r>
            <a:r>
              <a:rPr lang="en-US" b="1" dirty="0" err="1"/>
              <a:t>product_line_rank</a:t>
            </a:r>
            <a:r>
              <a:rPr lang="en-US" dirty="0"/>
              <a:t> as(SELECT     `Product line`,    `Customer type`,    COUNT(*) AS </a:t>
            </a:r>
            <a:r>
              <a:rPr lang="en-US" dirty="0" err="1"/>
              <a:t>count_of_transactions</a:t>
            </a:r>
            <a:r>
              <a:rPr lang="en-US" dirty="0"/>
              <a:t>,     rank() OVER(partition by `Customer type` order by COUNT(*) DESC) as </a:t>
            </a:r>
            <a:r>
              <a:rPr lang="en-US" dirty="0" err="1"/>
              <a:t>RANK_Ofproductline</a:t>
            </a:r>
            <a:r>
              <a:rPr lang="en-US" dirty="0"/>
              <a:t> FROM    </a:t>
            </a:r>
            <a:r>
              <a:rPr lang="en-US" dirty="0" err="1"/>
              <a:t>walmartsales</a:t>
            </a:r>
            <a:r>
              <a:rPr lang="en-US" dirty="0"/>
              <a:t> GROUP BY `Product line` , `Customer type`)</a:t>
            </a:r>
          </a:p>
          <a:p>
            <a:pPr marL="859536" lvl="2" indent="0">
              <a:buNone/>
            </a:pPr>
            <a:r>
              <a:rPr lang="en-US" dirty="0"/>
              <a:t>select `Customer type`, `Product line` AS </a:t>
            </a:r>
            <a:r>
              <a:rPr lang="en-US" dirty="0" err="1"/>
              <a:t>most_purchased_productline</a:t>
            </a:r>
            <a:r>
              <a:rPr lang="en-US" dirty="0"/>
              <a:t>, </a:t>
            </a:r>
            <a:r>
              <a:rPr lang="en-US" dirty="0" err="1"/>
              <a:t>count_of_transactions</a:t>
            </a:r>
            <a:r>
              <a:rPr lang="en-US" dirty="0"/>
              <a:t> FROM </a:t>
            </a:r>
            <a:r>
              <a:rPr lang="en-US" dirty="0" err="1"/>
              <a:t>product_line_rankwhere</a:t>
            </a:r>
            <a:r>
              <a:rPr lang="en-US" dirty="0"/>
              <a:t> </a:t>
            </a:r>
            <a:r>
              <a:rPr lang="en-US" dirty="0" err="1"/>
              <a:t>RANK_OFproductline</a:t>
            </a:r>
            <a:r>
              <a:rPr lang="en-US" dirty="0"/>
              <a:t> = 1;</a:t>
            </a:r>
            <a:endParaRPr lang="en-IN" dirty="0"/>
          </a:p>
        </p:txBody>
      </p:sp>
      <p:pic>
        <p:nvPicPr>
          <p:cNvPr id="8" name="Content Placeholder 7">
            <a:extLst>
              <a:ext uri="{FF2B5EF4-FFF2-40B4-BE49-F238E27FC236}">
                <a16:creationId xmlns:a16="http://schemas.microsoft.com/office/drawing/2014/main" id="{FF5EB655-5C31-0D98-E325-244256F00258}"/>
              </a:ext>
            </a:extLst>
          </p:cNvPr>
          <p:cNvPicPr>
            <a:picLocks noGrp="1" noChangeAspect="1"/>
          </p:cNvPicPr>
          <p:nvPr>
            <p:ph sz="quarter" idx="14"/>
          </p:nvPr>
        </p:nvPicPr>
        <p:blipFill>
          <a:blip r:embed="rId2"/>
          <a:stretch>
            <a:fillRect/>
          </a:stretch>
        </p:blipFill>
        <p:spPr>
          <a:xfrm>
            <a:off x="590524" y="1187425"/>
            <a:ext cx="5458096" cy="2405417"/>
          </a:xfrm>
        </p:spPr>
      </p:pic>
    </p:spTree>
    <p:extLst>
      <p:ext uri="{BB962C8B-B14F-4D97-AF65-F5344CB8AC3E}">
        <p14:creationId xmlns:p14="http://schemas.microsoft.com/office/powerpoint/2010/main" val="1725375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6A73C-2AC6-695B-EFC8-65DA1FBB91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D6F36-125E-383E-89BF-4AA432575A46}"/>
              </a:ext>
            </a:extLst>
          </p:cNvPr>
          <p:cNvSpPr>
            <a:spLocks noGrp="1"/>
          </p:cNvSpPr>
          <p:nvPr>
            <p:ph type="title"/>
          </p:nvPr>
        </p:nvSpPr>
        <p:spPr>
          <a:xfrm>
            <a:off x="3670933" y="4817659"/>
            <a:ext cx="7926705" cy="1224817"/>
          </a:xfrm>
        </p:spPr>
        <p:txBody>
          <a:bodyPr/>
          <a:lstStyle/>
          <a:p>
            <a:r>
              <a:rPr lang="en-IN" sz="3600" dirty="0"/>
              <a:t>Identifying Repeat Customers</a:t>
            </a:r>
          </a:p>
        </p:txBody>
      </p:sp>
      <p:sp>
        <p:nvSpPr>
          <p:cNvPr id="4" name="Content Placeholder 3">
            <a:extLst>
              <a:ext uri="{FF2B5EF4-FFF2-40B4-BE49-F238E27FC236}">
                <a16:creationId xmlns:a16="http://schemas.microsoft.com/office/drawing/2014/main" id="{F1A5253E-3A63-81CF-31EE-18610B35AB42}"/>
              </a:ext>
            </a:extLst>
          </p:cNvPr>
          <p:cNvSpPr>
            <a:spLocks noGrp="1"/>
          </p:cNvSpPr>
          <p:nvPr>
            <p:ph sz="quarter" idx="13"/>
          </p:nvPr>
        </p:nvSpPr>
        <p:spPr>
          <a:xfrm>
            <a:off x="4094328" y="409432"/>
            <a:ext cx="7503310" cy="4585649"/>
          </a:xfrm>
        </p:spPr>
        <p:txBody>
          <a:bodyPr>
            <a:normAutofit/>
          </a:bodyPr>
          <a:lstStyle/>
          <a:p>
            <a:pPr marL="859536" lvl="2" indent="0">
              <a:buNone/>
            </a:pPr>
            <a:r>
              <a:rPr lang="en-US" dirty="0"/>
              <a:t>WITH </a:t>
            </a:r>
            <a:r>
              <a:rPr lang="en-US" b="1" dirty="0" err="1"/>
              <a:t>customer_dates</a:t>
            </a:r>
            <a:r>
              <a:rPr lang="en-US" b="1" dirty="0"/>
              <a:t> </a:t>
            </a:r>
            <a:r>
              <a:rPr lang="en-US" dirty="0"/>
              <a:t>AS (SELECT `Customer ID`,        STR_TO_DATE(Date, '%d-%m-%Y') AS </a:t>
            </a:r>
            <a:r>
              <a:rPr lang="en-US" dirty="0" err="1"/>
              <a:t>purchase_date</a:t>
            </a:r>
            <a:r>
              <a:rPr lang="en-US" dirty="0"/>
              <a:t> FROM </a:t>
            </a:r>
            <a:r>
              <a:rPr lang="en-US" dirty="0" err="1"/>
              <a:t>walmartsales</a:t>
            </a:r>
            <a:r>
              <a:rPr lang="en-US" dirty="0"/>
              <a:t>),</a:t>
            </a:r>
          </a:p>
          <a:p>
            <a:pPr marL="859536" lvl="2" indent="0">
              <a:buNone/>
            </a:pPr>
            <a:r>
              <a:rPr lang="en-US" b="1" dirty="0"/>
              <a:t>repeat_customers_30days </a:t>
            </a:r>
            <a:r>
              <a:rPr lang="en-US" dirty="0"/>
              <a:t>AS (SELECT         </a:t>
            </a:r>
            <a:r>
              <a:rPr lang="en-US" dirty="0" err="1"/>
              <a:t>a.`Customer</a:t>
            </a:r>
            <a:r>
              <a:rPr lang="en-US" dirty="0"/>
              <a:t> ID`,        </a:t>
            </a:r>
            <a:r>
              <a:rPr lang="en-US" dirty="0" err="1"/>
              <a:t>a.purchase_date</a:t>
            </a:r>
            <a:r>
              <a:rPr lang="en-US" dirty="0"/>
              <a:t> AS </a:t>
            </a:r>
            <a:r>
              <a:rPr lang="en-US" dirty="0" err="1"/>
              <a:t>first_purchase</a:t>
            </a:r>
            <a:r>
              <a:rPr lang="en-US" dirty="0"/>
              <a:t>,        </a:t>
            </a:r>
            <a:r>
              <a:rPr lang="en-US" dirty="0" err="1"/>
              <a:t>b.purchase_date</a:t>
            </a:r>
            <a:r>
              <a:rPr lang="en-US" dirty="0"/>
              <a:t> AS </a:t>
            </a:r>
            <a:r>
              <a:rPr lang="en-US" dirty="0" err="1"/>
              <a:t>second_purchase</a:t>
            </a:r>
            <a:r>
              <a:rPr lang="en-US" dirty="0"/>
              <a:t>,        DATEDIFF(</a:t>
            </a:r>
            <a:r>
              <a:rPr lang="en-US" dirty="0" err="1"/>
              <a:t>b.purchase_date</a:t>
            </a:r>
            <a:r>
              <a:rPr lang="en-US" dirty="0"/>
              <a:t>, </a:t>
            </a:r>
            <a:r>
              <a:rPr lang="en-US" dirty="0" err="1"/>
              <a:t>a.purchase_date</a:t>
            </a:r>
            <a:r>
              <a:rPr lang="en-US" dirty="0"/>
              <a:t>) AS </a:t>
            </a:r>
            <a:r>
              <a:rPr lang="en-US" dirty="0" err="1"/>
              <a:t>days_between</a:t>
            </a:r>
            <a:r>
              <a:rPr lang="en-US" dirty="0"/>
              <a:t>    FROM </a:t>
            </a:r>
            <a:r>
              <a:rPr lang="en-US" dirty="0" err="1"/>
              <a:t>customer_dates</a:t>
            </a:r>
            <a:r>
              <a:rPr lang="en-US" dirty="0"/>
              <a:t> a    JOIN </a:t>
            </a:r>
            <a:r>
              <a:rPr lang="en-US" dirty="0" err="1"/>
              <a:t>customer_dates</a:t>
            </a:r>
            <a:r>
              <a:rPr lang="en-US" dirty="0"/>
              <a:t> b         ON </a:t>
            </a:r>
            <a:r>
              <a:rPr lang="en-US" dirty="0" err="1"/>
              <a:t>a.`Customer</a:t>
            </a:r>
            <a:r>
              <a:rPr lang="en-US" dirty="0"/>
              <a:t> ID` = </a:t>
            </a:r>
            <a:r>
              <a:rPr lang="en-US" dirty="0" err="1"/>
              <a:t>b.`Customer</a:t>
            </a:r>
            <a:r>
              <a:rPr lang="en-US" dirty="0"/>
              <a:t> ID` AND </a:t>
            </a:r>
            <a:r>
              <a:rPr lang="en-US" dirty="0" err="1"/>
              <a:t>b.purchase_date</a:t>
            </a:r>
            <a:r>
              <a:rPr lang="en-US" dirty="0"/>
              <a:t> &gt; </a:t>
            </a:r>
            <a:r>
              <a:rPr lang="en-US" dirty="0" err="1"/>
              <a:t>a.purchase_date</a:t>
            </a:r>
            <a:r>
              <a:rPr lang="en-US" dirty="0"/>
              <a:t> AND DATEDIFF(</a:t>
            </a:r>
            <a:r>
              <a:rPr lang="en-US" dirty="0" err="1"/>
              <a:t>b.purchase_date</a:t>
            </a:r>
            <a:r>
              <a:rPr lang="en-US" dirty="0"/>
              <a:t>, </a:t>
            </a:r>
            <a:r>
              <a:rPr lang="en-US" dirty="0" err="1"/>
              <a:t>a.purchase_date</a:t>
            </a:r>
            <a:r>
              <a:rPr lang="en-US" dirty="0"/>
              <a:t>) &lt;= 30)</a:t>
            </a:r>
          </a:p>
          <a:p>
            <a:pPr marL="859536" lvl="2" indent="0">
              <a:buNone/>
            </a:pPr>
            <a:r>
              <a:rPr lang="en-US" dirty="0"/>
              <a:t>SELECT DISTINCT `Customer ID`FROM repeat_customers_30days;</a:t>
            </a:r>
            <a:endParaRPr lang="en-IN" dirty="0"/>
          </a:p>
        </p:txBody>
      </p:sp>
      <p:pic>
        <p:nvPicPr>
          <p:cNvPr id="7" name="Content Placeholder 6">
            <a:extLst>
              <a:ext uri="{FF2B5EF4-FFF2-40B4-BE49-F238E27FC236}">
                <a16:creationId xmlns:a16="http://schemas.microsoft.com/office/drawing/2014/main" id="{50F8F681-2D01-4AC4-C237-FC6386F17C02}"/>
              </a:ext>
            </a:extLst>
          </p:cNvPr>
          <p:cNvPicPr>
            <a:picLocks noGrp="1" noChangeAspect="1"/>
          </p:cNvPicPr>
          <p:nvPr>
            <p:ph sz="quarter" idx="14"/>
          </p:nvPr>
        </p:nvPicPr>
        <p:blipFill>
          <a:blip r:embed="rId2"/>
          <a:stretch>
            <a:fillRect/>
          </a:stretch>
        </p:blipFill>
        <p:spPr>
          <a:xfrm>
            <a:off x="1168281" y="570316"/>
            <a:ext cx="2502652" cy="4690075"/>
          </a:xfrm>
        </p:spPr>
      </p:pic>
    </p:spTree>
    <p:extLst>
      <p:ext uri="{BB962C8B-B14F-4D97-AF65-F5344CB8AC3E}">
        <p14:creationId xmlns:p14="http://schemas.microsoft.com/office/powerpoint/2010/main" val="4246463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A2CE2-B25B-E75C-9283-4A6A626AA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B9373-FFAC-F3AF-0ECE-722E33897D29}"/>
              </a:ext>
            </a:extLst>
          </p:cNvPr>
          <p:cNvSpPr>
            <a:spLocks noGrp="1"/>
          </p:cNvSpPr>
          <p:nvPr>
            <p:ph type="title"/>
          </p:nvPr>
        </p:nvSpPr>
        <p:spPr>
          <a:xfrm>
            <a:off x="3670933" y="4995081"/>
            <a:ext cx="7926705" cy="1047395"/>
          </a:xfrm>
        </p:spPr>
        <p:txBody>
          <a:bodyPr/>
          <a:lstStyle/>
          <a:p>
            <a:r>
              <a:rPr lang="en-US" sz="3600" dirty="0"/>
              <a:t>Finding Top 5 Customers by Sales Volume</a:t>
            </a:r>
            <a:endParaRPr lang="en-IN" sz="3600" dirty="0"/>
          </a:p>
        </p:txBody>
      </p:sp>
      <p:sp>
        <p:nvSpPr>
          <p:cNvPr id="4" name="Content Placeholder 3">
            <a:extLst>
              <a:ext uri="{FF2B5EF4-FFF2-40B4-BE49-F238E27FC236}">
                <a16:creationId xmlns:a16="http://schemas.microsoft.com/office/drawing/2014/main" id="{6A524C49-926A-C2AB-09CC-AE19824D30BA}"/>
              </a:ext>
            </a:extLst>
          </p:cNvPr>
          <p:cNvSpPr>
            <a:spLocks noGrp="1"/>
          </p:cNvSpPr>
          <p:nvPr>
            <p:ph sz="quarter" idx="13"/>
          </p:nvPr>
        </p:nvSpPr>
        <p:spPr>
          <a:xfrm>
            <a:off x="5308978" y="627797"/>
            <a:ext cx="6152181" cy="3998795"/>
          </a:xfrm>
        </p:spPr>
        <p:txBody>
          <a:bodyPr>
            <a:normAutofit/>
          </a:bodyPr>
          <a:lstStyle/>
          <a:p>
            <a:pPr marL="859536" lvl="2" indent="0">
              <a:buNone/>
            </a:pPr>
            <a:r>
              <a:rPr lang="en-US" dirty="0"/>
              <a:t>SELECT    </a:t>
            </a:r>
          </a:p>
          <a:p>
            <a:pPr marL="859536" lvl="2" indent="0">
              <a:buNone/>
            </a:pPr>
            <a:r>
              <a:rPr lang="en-US" dirty="0"/>
              <a:t> `Customer ID`, </a:t>
            </a:r>
          </a:p>
          <a:p>
            <a:pPr marL="859536" lvl="2" indent="0">
              <a:buNone/>
            </a:pPr>
            <a:r>
              <a:rPr lang="en-US" dirty="0"/>
              <a:t>SUM(Total) AS </a:t>
            </a:r>
            <a:r>
              <a:rPr lang="en-US" dirty="0" err="1"/>
              <a:t>totalSales_Revenue</a:t>
            </a:r>
            <a:endParaRPr lang="en-US" dirty="0"/>
          </a:p>
          <a:p>
            <a:pPr marL="859536" lvl="2" indent="0">
              <a:buNone/>
            </a:pPr>
            <a:r>
              <a:rPr lang="en-US" dirty="0"/>
              <a:t>FROM    </a:t>
            </a:r>
            <a:r>
              <a:rPr lang="en-US" dirty="0" err="1"/>
              <a:t>walmartsales</a:t>
            </a:r>
            <a:endParaRPr lang="en-US" dirty="0"/>
          </a:p>
          <a:p>
            <a:pPr marL="859536" lvl="2" indent="0">
              <a:buNone/>
            </a:pPr>
            <a:r>
              <a:rPr lang="en-US" dirty="0"/>
              <a:t>GROUP BY `Customer ID`</a:t>
            </a:r>
          </a:p>
          <a:p>
            <a:pPr marL="859536" lvl="2" indent="0">
              <a:buNone/>
            </a:pPr>
            <a:r>
              <a:rPr lang="en-US" dirty="0"/>
              <a:t>ORDER BY </a:t>
            </a:r>
            <a:r>
              <a:rPr lang="en-US" dirty="0" err="1"/>
              <a:t>totalSales_Revenue</a:t>
            </a:r>
            <a:r>
              <a:rPr lang="en-US" dirty="0"/>
              <a:t> DESC LIMIT 5;</a:t>
            </a:r>
            <a:endParaRPr lang="en-IN" dirty="0"/>
          </a:p>
        </p:txBody>
      </p:sp>
      <p:pic>
        <p:nvPicPr>
          <p:cNvPr id="8" name="Content Placeholder 7">
            <a:extLst>
              <a:ext uri="{FF2B5EF4-FFF2-40B4-BE49-F238E27FC236}">
                <a16:creationId xmlns:a16="http://schemas.microsoft.com/office/drawing/2014/main" id="{BD2FE31F-69B8-5CCA-E6AD-710F7FC30A33}"/>
              </a:ext>
            </a:extLst>
          </p:cNvPr>
          <p:cNvPicPr>
            <a:picLocks noGrp="1" noChangeAspect="1"/>
          </p:cNvPicPr>
          <p:nvPr>
            <p:ph sz="quarter" idx="14"/>
          </p:nvPr>
        </p:nvPicPr>
        <p:blipFill>
          <a:blip r:embed="rId2"/>
          <a:stretch>
            <a:fillRect/>
          </a:stretch>
        </p:blipFill>
        <p:spPr>
          <a:xfrm>
            <a:off x="603249" y="849859"/>
            <a:ext cx="4255455" cy="2998810"/>
          </a:xfrm>
        </p:spPr>
      </p:pic>
    </p:spTree>
    <p:extLst>
      <p:ext uri="{BB962C8B-B14F-4D97-AF65-F5344CB8AC3E}">
        <p14:creationId xmlns:p14="http://schemas.microsoft.com/office/powerpoint/2010/main" val="767130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9B1D-936D-FD81-F4E4-5BF098873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6C73C-5B33-FBCA-2DFB-8942EE51A948}"/>
              </a:ext>
            </a:extLst>
          </p:cNvPr>
          <p:cNvSpPr>
            <a:spLocks noGrp="1"/>
          </p:cNvSpPr>
          <p:nvPr>
            <p:ph type="title"/>
          </p:nvPr>
        </p:nvSpPr>
        <p:spPr>
          <a:xfrm>
            <a:off x="3670933" y="4995081"/>
            <a:ext cx="7926705" cy="1047395"/>
          </a:xfrm>
        </p:spPr>
        <p:txBody>
          <a:bodyPr/>
          <a:lstStyle/>
          <a:p>
            <a:r>
              <a:rPr lang="en-US" sz="3600" dirty="0"/>
              <a:t>Analyzing Sales Trends by Day of the Week</a:t>
            </a:r>
            <a:endParaRPr lang="en-IN" sz="3600" dirty="0"/>
          </a:p>
        </p:txBody>
      </p:sp>
      <p:sp>
        <p:nvSpPr>
          <p:cNvPr id="4" name="Content Placeholder 3">
            <a:extLst>
              <a:ext uri="{FF2B5EF4-FFF2-40B4-BE49-F238E27FC236}">
                <a16:creationId xmlns:a16="http://schemas.microsoft.com/office/drawing/2014/main" id="{45182C99-6A82-03BC-BF41-F57F37A7CB09}"/>
              </a:ext>
            </a:extLst>
          </p:cNvPr>
          <p:cNvSpPr>
            <a:spLocks noGrp="1"/>
          </p:cNvSpPr>
          <p:nvPr>
            <p:ph sz="quarter" idx="13"/>
          </p:nvPr>
        </p:nvSpPr>
        <p:spPr>
          <a:xfrm>
            <a:off x="5363570" y="641445"/>
            <a:ext cx="6097589" cy="3985147"/>
          </a:xfrm>
        </p:spPr>
        <p:txBody>
          <a:bodyPr>
            <a:normAutofit/>
          </a:bodyPr>
          <a:lstStyle/>
          <a:p>
            <a:pPr marL="859536" lvl="2" indent="0">
              <a:buNone/>
            </a:pPr>
            <a:r>
              <a:rPr lang="en-US" dirty="0"/>
              <a:t>select </a:t>
            </a:r>
          </a:p>
          <a:p>
            <a:pPr marL="859536" lvl="2" indent="0">
              <a:buNone/>
            </a:pPr>
            <a:r>
              <a:rPr lang="en-US" dirty="0" err="1"/>
              <a:t>dayname</a:t>
            </a:r>
            <a:r>
              <a:rPr lang="en-US" dirty="0"/>
              <a:t>(</a:t>
            </a:r>
            <a:r>
              <a:rPr lang="en-US" dirty="0" err="1"/>
              <a:t>str_to_date</a:t>
            </a:r>
            <a:r>
              <a:rPr lang="en-US" dirty="0"/>
              <a:t>(Date, '%d-%m-%y')) as </a:t>
            </a:r>
            <a:r>
              <a:rPr lang="en-US" dirty="0" err="1"/>
              <a:t>sale_day</a:t>
            </a:r>
            <a:r>
              <a:rPr lang="en-US" dirty="0"/>
              <a:t>, </a:t>
            </a:r>
          </a:p>
          <a:p>
            <a:pPr marL="859536" lvl="2" indent="0">
              <a:buNone/>
            </a:pPr>
            <a:r>
              <a:rPr lang="en-US" dirty="0"/>
              <a:t>sum(Total) as </a:t>
            </a:r>
            <a:r>
              <a:rPr lang="en-US" dirty="0" err="1"/>
              <a:t>Total_sales</a:t>
            </a:r>
            <a:r>
              <a:rPr lang="en-US" dirty="0"/>
              <a:t> </a:t>
            </a:r>
          </a:p>
          <a:p>
            <a:pPr marL="859536" lvl="2" indent="0">
              <a:buNone/>
            </a:pPr>
            <a:r>
              <a:rPr lang="en-US" dirty="0"/>
              <a:t>from </a:t>
            </a:r>
            <a:r>
              <a:rPr lang="en-US" dirty="0" err="1"/>
              <a:t>walmartsales</a:t>
            </a:r>
            <a:endParaRPr lang="en-US" dirty="0"/>
          </a:p>
          <a:p>
            <a:pPr marL="859536" lvl="2" indent="0">
              <a:buNone/>
            </a:pPr>
            <a:r>
              <a:rPr lang="en-US" dirty="0"/>
              <a:t>group by </a:t>
            </a:r>
            <a:r>
              <a:rPr lang="en-US" dirty="0" err="1"/>
              <a:t>sale_day</a:t>
            </a:r>
            <a:endParaRPr lang="en-US" dirty="0"/>
          </a:p>
          <a:p>
            <a:pPr marL="859536" lvl="2" indent="0">
              <a:buNone/>
            </a:pPr>
            <a:r>
              <a:rPr lang="en-US" dirty="0"/>
              <a:t>order by </a:t>
            </a:r>
            <a:r>
              <a:rPr lang="en-US" dirty="0" err="1"/>
              <a:t>Total_sales</a:t>
            </a:r>
            <a:r>
              <a:rPr lang="en-US" dirty="0"/>
              <a:t> desc; </a:t>
            </a:r>
            <a:endParaRPr lang="en-IN" dirty="0"/>
          </a:p>
        </p:txBody>
      </p:sp>
      <p:pic>
        <p:nvPicPr>
          <p:cNvPr id="7" name="Content Placeholder 6">
            <a:extLst>
              <a:ext uri="{FF2B5EF4-FFF2-40B4-BE49-F238E27FC236}">
                <a16:creationId xmlns:a16="http://schemas.microsoft.com/office/drawing/2014/main" id="{345FA638-D96D-C97C-6C4F-3F0B76DCF333}"/>
              </a:ext>
            </a:extLst>
          </p:cNvPr>
          <p:cNvPicPr>
            <a:picLocks noGrp="1" noChangeAspect="1"/>
          </p:cNvPicPr>
          <p:nvPr>
            <p:ph sz="quarter" idx="14"/>
          </p:nvPr>
        </p:nvPicPr>
        <p:blipFill>
          <a:blip r:embed="rId2"/>
          <a:stretch>
            <a:fillRect/>
          </a:stretch>
        </p:blipFill>
        <p:spPr>
          <a:xfrm>
            <a:off x="630546" y="1001854"/>
            <a:ext cx="4446422" cy="3464744"/>
          </a:xfrm>
        </p:spPr>
      </p:pic>
    </p:spTree>
    <p:extLst>
      <p:ext uri="{BB962C8B-B14F-4D97-AF65-F5344CB8AC3E}">
        <p14:creationId xmlns:p14="http://schemas.microsoft.com/office/powerpoint/2010/main" val="3151565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9D470-4F1B-24F1-D4A3-7348CE6ADE7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514AE5F-3C50-929A-B157-22FA4E0542A8}"/>
              </a:ext>
            </a:extLst>
          </p:cNvPr>
          <p:cNvSpPr>
            <a:spLocks noGrp="1"/>
          </p:cNvSpPr>
          <p:nvPr>
            <p:ph type="ctrTitle"/>
          </p:nvPr>
        </p:nvSpPr>
        <p:spPr>
          <a:xfrm>
            <a:off x="6309904" y="411479"/>
            <a:ext cx="5486400" cy="3291840"/>
          </a:xfrm>
        </p:spPr>
        <p:txBody>
          <a:bodyPr/>
          <a:lstStyle/>
          <a:p>
            <a:r>
              <a:rPr lang="en-US" dirty="0"/>
              <a:t>Insights and Suggestions</a:t>
            </a:r>
          </a:p>
        </p:txBody>
      </p:sp>
      <p:sp>
        <p:nvSpPr>
          <p:cNvPr id="3" name="Text Placeholder 2">
            <a:extLst>
              <a:ext uri="{FF2B5EF4-FFF2-40B4-BE49-F238E27FC236}">
                <a16:creationId xmlns:a16="http://schemas.microsoft.com/office/drawing/2014/main" id="{8AC342C6-3A02-61A7-8139-DBA12D118852}"/>
              </a:ext>
            </a:extLst>
          </p:cNvPr>
          <p:cNvSpPr>
            <a:spLocks noGrp="1"/>
          </p:cNvSpPr>
          <p:nvPr>
            <p:ph type="body" sz="quarter" idx="11"/>
          </p:nvPr>
        </p:nvSpPr>
        <p:spPr>
          <a:xfrm>
            <a:off x="6309904" y="4299045"/>
            <a:ext cx="5486401" cy="1896427"/>
          </a:xfrm>
        </p:spPr>
        <p:txBody>
          <a:bodyPr>
            <a:normAutofit/>
          </a:bodyPr>
          <a:lstStyle/>
          <a:p>
            <a:r>
              <a:rPr lang="en-US" dirty="0"/>
              <a:t>My insights and suggestions after analyzing the Walmart sales data.</a:t>
            </a:r>
          </a:p>
        </p:txBody>
      </p:sp>
    </p:spTree>
    <p:extLst>
      <p:ext uri="{BB962C8B-B14F-4D97-AF65-F5344CB8AC3E}">
        <p14:creationId xmlns:p14="http://schemas.microsoft.com/office/powerpoint/2010/main" val="1666886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Insights and Suggestions</a:t>
            </a:r>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94359" y="2415654"/>
            <a:ext cx="5151347" cy="3858341"/>
          </a:xfrm>
        </p:spPr>
        <p:txBody>
          <a:bodyPr>
            <a:normAutofit fontScale="92500" lnSpcReduction="10000"/>
          </a:bodyPr>
          <a:lstStyle/>
          <a:p>
            <a:pPr marL="0" lvl="1" indent="0">
              <a:buNone/>
            </a:pPr>
            <a:r>
              <a:rPr lang="en-US" dirty="0"/>
              <a:t>	</a:t>
            </a:r>
            <a:r>
              <a:rPr lang="en-US" sz="2800" dirty="0"/>
              <a:t>Insights</a:t>
            </a:r>
            <a:endParaRPr lang="en-US" dirty="0"/>
          </a:p>
          <a:p>
            <a:pPr lvl="1"/>
            <a:r>
              <a:rPr lang="en-US" dirty="0"/>
              <a:t>Only Branch A shows a monthly growth%.</a:t>
            </a:r>
          </a:p>
          <a:p>
            <a:pPr lvl="1"/>
            <a:r>
              <a:rPr lang="en-US" dirty="0"/>
              <a:t>All the 15 customers have performed repeated transactions within 30 days.</a:t>
            </a:r>
          </a:p>
          <a:p>
            <a:pPr lvl="1"/>
            <a:r>
              <a:rPr lang="en-US" dirty="0"/>
              <a:t>Both Male and Female customers have spent the most in the month of January.</a:t>
            </a:r>
          </a:p>
          <a:p>
            <a:pPr lvl="1"/>
            <a:r>
              <a:rPr lang="en-US" dirty="0"/>
              <a:t>Monday is the favorite day of the customers to make a purchase.</a:t>
            </a:r>
          </a:p>
          <a:p>
            <a:pPr lvl="1"/>
            <a:r>
              <a:rPr lang="en-US" dirty="0"/>
              <a:t>There are 51 purchases that shows unusually high sales than the average purchase for that product line.</a:t>
            </a:r>
          </a:p>
        </p:txBody>
      </p:sp>
      <p:sp>
        <p:nvSpPr>
          <p:cNvPr id="4" name="Content Placeholder 3">
            <a:extLst>
              <a:ext uri="{FF2B5EF4-FFF2-40B4-BE49-F238E27FC236}">
                <a16:creationId xmlns:a16="http://schemas.microsoft.com/office/drawing/2014/main" id="{41FC7B50-71A6-D8BE-C032-5EB4CF5706D5}"/>
              </a:ext>
            </a:extLst>
          </p:cNvPr>
          <p:cNvSpPr>
            <a:spLocks noGrp="1"/>
          </p:cNvSpPr>
          <p:nvPr>
            <p:ph sz="quarter" idx="16"/>
          </p:nvPr>
        </p:nvSpPr>
        <p:spPr>
          <a:xfrm>
            <a:off x="5950424" y="2279176"/>
            <a:ext cx="5827594" cy="4162567"/>
          </a:xfrm>
        </p:spPr>
        <p:txBody>
          <a:bodyPr>
            <a:normAutofit/>
          </a:bodyPr>
          <a:lstStyle/>
          <a:p>
            <a:pPr marL="0" lvl="1" indent="0">
              <a:buNone/>
            </a:pPr>
            <a:r>
              <a:rPr lang="en-US" dirty="0"/>
              <a:t>	</a:t>
            </a:r>
            <a:r>
              <a:rPr lang="en-US" sz="2800" dirty="0"/>
              <a:t>Suggestions</a:t>
            </a:r>
            <a:endParaRPr lang="en-US" dirty="0"/>
          </a:p>
          <a:p>
            <a:pPr lvl="1"/>
            <a:r>
              <a:rPr lang="en-US" dirty="0"/>
              <a:t>Our top customers are </a:t>
            </a:r>
            <a:r>
              <a:rPr lang="en-US" dirty="0" err="1"/>
              <a:t>CustomerID</a:t>
            </a:r>
            <a:r>
              <a:rPr lang="en-US" dirty="0"/>
              <a:t> 8, 3, 2, 15 and 1 that should be rewarded with discounts or special gift cards. They are also the high spenders having average purchase &gt;335.</a:t>
            </a:r>
          </a:p>
          <a:p>
            <a:pPr lvl="1"/>
            <a:r>
              <a:rPr lang="en-US" dirty="0"/>
              <a:t>Walmart can organize a sale in the first two months of the year, as most of the purchases from the customers are in the first two months.</a:t>
            </a:r>
          </a:p>
          <a:p>
            <a:pPr lvl="1"/>
            <a:r>
              <a:rPr lang="en-US" dirty="0"/>
              <a:t>Walmart can offer discounts to improve sales on the weekend as Monday is the highest performing day.</a:t>
            </a:r>
          </a:p>
        </p:txBody>
      </p:sp>
    </p:spTree>
    <p:extLst>
      <p:ext uri="{BB962C8B-B14F-4D97-AF65-F5344CB8AC3E}">
        <p14:creationId xmlns:p14="http://schemas.microsoft.com/office/powerpoint/2010/main" val="888484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D29B5-1B58-809F-FEA7-B82105E94664}"/>
              </a:ext>
            </a:extLst>
          </p:cNvPr>
          <p:cNvSpPr>
            <a:spLocks noGrp="1"/>
          </p:cNvSpPr>
          <p:nvPr>
            <p:ph type="title"/>
          </p:nvPr>
        </p:nvSpPr>
        <p:spPr>
          <a:xfrm>
            <a:off x="6318885" y="3499667"/>
            <a:ext cx="4939666" cy="2542810"/>
          </a:xfrm>
        </p:spPr>
        <p:txBody>
          <a:bodyPr/>
          <a:lstStyle/>
          <a:p>
            <a:r>
              <a:rPr lang="en-US" sz="4800" dirty="0"/>
              <a:t>Video </a:t>
            </a:r>
            <a:r>
              <a:rPr lang="en-US" sz="4800" dirty="0" err="1"/>
              <a:t>Expalnation</a:t>
            </a:r>
            <a:r>
              <a:rPr lang="en-US" sz="4800" dirty="0"/>
              <a:t> Link</a:t>
            </a:r>
          </a:p>
        </p:txBody>
      </p:sp>
      <p:sp>
        <p:nvSpPr>
          <p:cNvPr id="4" name="Content Placeholder 3">
            <a:extLst>
              <a:ext uri="{FF2B5EF4-FFF2-40B4-BE49-F238E27FC236}">
                <a16:creationId xmlns:a16="http://schemas.microsoft.com/office/drawing/2014/main" id="{07C3632C-2D2E-7026-33B8-EE42DA4BDB5C}"/>
              </a:ext>
            </a:extLst>
          </p:cNvPr>
          <p:cNvSpPr>
            <a:spLocks noGrp="1"/>
          </p:cNvSpPr>
          <p:nvPr>
            <p:ph sz="quarter" idx="14"/>
          </p:nvPr>
        </p:nvSpPr>
        <p:spPr>
          <a:xfrm>
            <a:off x="603885" y="457201"/>
            <a:ext cx="5198269" cy="2305050"/>
          </a:xfrm>
        </p:spPr>
        <p:txBody>
          <a:bodyPr>
            <a:normAutofit/>
          </a:bodyPr>
          <a:lstStyle/>
          <a:p>
            <a:pPr marL="0" indent="0">
              <a:buNone/>
            </a:pPr>
            <a:r>
              <a:rPr lang="en-US" sz="3600" dirty="0"/>
              <a:t>Here is the link of my video explanation of this project:</a:t>
            </a:r>
          </a:p>
        </p:txBody>
      </p:sp>
      <p:sp>
        <p:nvSpPr>
          <p:cNvPr id="3" name="Content Placeholder 2">
            <a:extLst>
              <a:ext uri="{FF2B5EF4-FFF2-40B4-BE49-F238E27FC236}">
                <a16:creationId xmlns:a16="http://schemas.microsoft.com/office/drawing/2014/main" id="{8B599B60-BF79-A832-6AD4-6C6FC6CE4317}"/>
              </a:ext>
            </a:extLst>
          </p:cNvPr>
          <p:cNvSpPr>
            <a:spLocks noGrp="1"/>
          </p:cNvSpPr>
          <p:nvPr>
            <p:ph sz="quarter" idx="15"/>
          </p:nvPr>
        </p:nvSpPr>
        <p:spPr>
          <a:xfrm>
            <a:off x="603884" y="3140861"/>
            <a:ext cx="7392803" cy="1606130"/>
          </a:xfrm>
        </p:spPr>
        <p:txBody>
          <a:bodyPr>
            <a:normAutofit/>
          </a:bodyPr>
          <a:lstStyle/>
          <a:p>
            <a:r>
              <a:rPr lang="en-US" sz="2800" dirty="0">
                <a:hlinkClick r:id="rId3"/>
              </a:rPr>
              <a:t>https://drive.google.com/file/d/1sp1mkBfGlTIfmZQLYkSJIitzSPdh3VA6/view?usp=sharing</a:t>
            </a:r>
            <a:endParaRPr lang="en-US" sz="2800" dirty="0"/>
          </a:p>
        </p:txBody>
      </p:sp>
    </p:spTree>
    <p:extLst>
      <p:ext uri="{BB962C8B-B14F-4D97-AF65-F5344CB8AC3E}">
        <p14:creationId xmlns:p14="http://schemas.microsoft.com/office/powerpoint/2010/main" val="3088225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a:lstStyle/>
          <a:p>
            <a:r>
              <a:rPr lang="en-US" dirty="0"/>
              <a:t>Hardik Verma</a:t>
            </a:r>
          </a:p>
          <a:p>
            <a:r>
              <a:rPr lang="en-US" dirty="0"/>
              <a:t>7895024750</a:t>
            </a:r>
          </a:p>
          <a:p>
            <a:r>
              <a:rPr lang="en-US" dirty="0"/>
              <a:t>hhardikverma@gmail.com</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656</TotalTime>
  <Words>1347</Words>
  <Application>Microsoft Office PowerPoint</Application>
  <PresentationFormat>Widescreen</PresentationFormat>
  <Paragraphs>88</Paragraphs>
  <Slides>18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Franklin Gothic Book</vt:lpstr>
      <vt:lpstr>Franklin Gothic Demi</vt:lpstr>
      <vt:lpstr>Custom</vt:lpstr>
      <vt:lpstr>Sales Performance Analysis of Walmart Stores Using Advanced MySQL Techniques</vt:lpstr>
      <vt:lpstr>Contents</vt:lpstr>
      <vt:lpstr>Problem Statement</vt:lpstr>
      <vt:lpstr>Walmart Sales Data Analysis</vt:lpstr>
      <vt:lpstr>Identifying the Top Branch by Sales Growth Rate</vt:lpstr>
      <vt:lpstr>Finding the Most Profitable Product Line for Each Branch</vt:lpstr>
      <vt:lpstr>Analyzing Customer Segmentation Based on Spending</vt:lpstr>
      <vt:lpstr>Detecting Anomalies in Sales Transactions </vt:lpstr>
      <vt:lpstr>Most Popular Payment Method by City</vt:lpstr>
      <vt:lpstr>Monthly Sales Distribution by Gender</vt:lpstr>
      <vt:lpstr>Best Product Line by Customer Type</vt:lpstr>
      <vt:lpstr>Identifying Repeat Customers</vt:lpstr>
      <vt:lpstr>Finding Top 5 Customers by Sales Volume</vt:lpstr>
      <vt:lpstr>Analyzing Sales Trends by Day of the Week</vt:lpstr>
      <vt:lpstr>Insights and Suggestions</vt:lpstr>
      <vt:lpstr>Insights and Suggestions</vt:lpstr>
      <vt:lpstr>Video Expalnation Link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Hardik Verma</dc:creator>
  <cp:lastModifiedBy>Hardik Verma</cp:lastModifiedBy>
  <cp:revision>2</cp:revision>
  <dcterms:created xsi:type="dcterms:W3CDTF">2025-07-18T16:11:21Z</dcterms:created>
  <dcterms:modified xsi:type="dcterms:W3CDTF">2025-07-19T18:19:02Z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